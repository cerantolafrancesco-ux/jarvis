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Indice costo</c:v>
                </c:pt>
              </c:strCache>
            </c:strRef>
          </c:tx>
          <c:spPr>
            <a:solidFill>
              <a:srgbClr val="6E81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AF2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E81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7C6F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Solo cloud</c:v>
                  </c:pt>
                  <c:pt idx="1">
                    <c:v>JARVIS ibrido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EAF2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C2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B2B"/>
        </a:solidFill>
        <a:ln>
          <a:noFill/>
        </a:ln>
        <a:effectLst/>
      </c:spPr>
    </c:plotArea>
    <c:plotVisOnly val="1"/>
    <c:dispBlanksAs val="span"/>
  </c:chart>
  <c:spPr>
    <a:solidFill>
      <a:srgbClr val="0B1B2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1188720"/>
            <a:ext cx="822960" cy="-45720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1188720"/>
            <a:ext cx="1737360" cy="9144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1188720"/>
            <a:ext cx="1554480" cy="109728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1188720"/>
            <a:ext cx="640080" cy="137160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731520"/>
            <a:ext cx="914400" cy="54864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0" y="731520"/>
            <a:ext cx="-182880" cy="182880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0" y="1737360"/>
            <a:ext cx="-274320" cy="82296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1280160"/>
            <a:ext cx="-182880" cy="100584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0" y="1097280"/>
            <a:ext cx="201168" cy="201168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1" name="Shape 9"/>
          <p:cNvSpPr/>
          <p:nvPr/>
        </p:nvSpPr>
        <p:spPr>
          <a:xfrm>
            <a:off x="7589520" y="640080"/>
            <a:ext cx="146304" cy="14630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2" name="Shape 10"/>
          <p:cNvSpPr/>
          <p:nvPr/>
        </p:nvSpPr>
        <p:spPr>
          <a:xfrm>
            <a:off x="7680960" y="1645920"/>
            <a:ext cx="201168" cy="201168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3" name="Shape 11"/>
          <p:cNvSpPr/>
          <p:nvPr/>
        </p:nvSpPr>
        <p:spPr>
          <a:xfrm>
            <a:off x="8503920" y="1188720"/>
            <a:ext cx="146304" cy="14630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1040" y="2194560"/>
            <a:ext cx="201168" cy="201168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406640" y="2468880"/>
            <a:ext cx="146304" cy="14630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1463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600" kern="0" dirty="0">
                <a:solidFill>
                  <a:srgbClr val="EAF2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566928" y="2468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7C6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primo computer autonomo.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66928" y="2971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accendi, gli dai un nome, è già al lavoro. In locale. Tuo.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66928" y="4297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riservato · pre-seed · [Mese 2026]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L'AI di oggi non ha mani, memoria, né casa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2880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105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pezzi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31520" y="2313432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di qua, plugin di là: nessun assistente che agisca davvero sul tuo computer.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60020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20440" y="182880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0" name="Text 8"/>
          <p:cNvSpPr/>
          <p:nvPr/>
        </p:nvSpPr>
        <p:spPr>
          <a:xfrm>
            <a:off x="3931920" y="18105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Smemorata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520440" y="2313432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Riparte ogni volta da zero. Non ti conosce, non impara.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160020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182880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18105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smanettoni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309360" y="2313432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Montarsi un assistente autonomo e privato richiede competenze che quasi nessuno ha.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22452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C2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Vuoi un collaboratore. Ti ritrovi una collezione di finestre.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SOLUZIONE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 un software. Un computer.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PC completo (o una macchina virtuale) con JARVIS già dentro: autonomo, agentico, locale. Si accende, gli dai un nome, ed è operativo.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2560320" cy="2240280"/>
          </a:xfrm>
          <a:prstGeom prst="roundRect">
            <a:avLst>
              <a:gd name="adj" fmla="val 3265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24028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2219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Chiavi in mano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31520" y="2724912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configurazione: l'autonomia esce dalla scatola, non te la costruisci tu.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91840" y="2011680"/>
            <a:ext cx="2560320" cy="2240280"/>
          </a:xfrm>
          <a:prstGeom prst="roundRect">
            <a:avLst>
              <a:gd name="adj" fmla="val 3265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20440" y="224028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1" name="Text 9"/>
          <p:cNvSpPr/>
          <p:nvPr/>
        </p:nvSpPr>
        <p:spPr>
          <a:xfrm>
            <a:off x="3931920" y="22219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Agentico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520440" y="2724912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 vere sul sistema: file, app, web, codice. Non solo risposte.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0760" y="2011680"/>
            <a:ext cx="2560320" cy="2240280"/>
          </a:xfrm>
          <a:prstGeom prst="roundRect">
            <a:avLst>
              <a:gd name="adj" fmla="val 3265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224028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22219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Locale e tuo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09360" y="2724912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sulla tua macchina. I dati non escono. Funziona anche offline.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 MANI DI JARVIS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Agisce, non si limita a rispondere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420624" cy="42062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Controlla il PC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5798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File, applicazioni, codice, operazioni di sistema — con autorizzazioni sotto controllo.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92040" y="1755648"/>
            <a:ext cx="420624" cy="42062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4068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 il web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92040" y="215798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Cerca, legge, compila e porta a termine compiti nel browser, da solo.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92608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127248"/>
            <a:ext cx="420624" cy="42062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Parla e ascolta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352958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Voce bidirezionale: wake-word "JARVIS", trascrizione e voce neurale, tutto locale.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92040" y="3127248"/>
            <a:ext cx="420624" cy="42062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4068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Ricorda ed evolve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92040" y="352958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persistente: ti conosce, collega i fatti, anticipa le tue abitudini.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SICUREZZA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Autonomia, ma sotto controllo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2880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105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azioni critiche si fermano sempre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31520" y="2313432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Eliminare, installare, autenticarsi, pubblicare: richiedono SEMPRE il tuo via libera.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60020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20440" y="182880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0" name="Text 8"/>
          <p:cNvSpPr/>
          <p:nvPr/>
        </p:nvSpPr>
        <p:spPr>
          <a:xfrm>
            <a:off x="3931920" y="18105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Autonomia a tua scelta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520440" y="2313432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attività decidi tu se procede da solo o se chiede. Di default, chiede.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160020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182880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18105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Tutto locale e visibile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309360" y="2313432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Gira sulla tua macchina e ogni azione è tracciata in tempo reale in un pannello di controllo.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22452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C2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computer che agisce da solo soltanto dove glielo permetti.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PERCHE' E' DIVERSO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Studia. Impara. Evolve.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572000" cy="2651760"/>
          </a:xfrm>
          <a:prstGeom prst="roundRect">
            <a:avLst>
              <a:gd name="adj" fmla="val 2759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C6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 vera memoria, condivisa.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ogni scambio e lo collega al resto.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ritrova in qualunque sessione, e sa con chi ne ha parlato.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Costruisce il profilo delle tue abitudini e anticipa.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verifica e si corregge ogni notte.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377440"/>
            <a:ext cx="822960" cy="-45720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0" y="2377440"/>
            <a:ext cx="640080" cy="137160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1920240"/>
            <a:ext cx="731520" cy="155448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0" y="1920240"/>
            <a:ext cx="-182880" cy="182880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0" y="2926080"/>
            <a:ext cx="822960" cy="-45720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0" y="2926080"/>
            <a:ext cx="640080" cy="54864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2468880"/>
            <a:ext cx="-182880" cy="100584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2286000"/>
            <a:ext cx="201168" cy="201168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0" y="1828800"/>
            <a:ext cx="146304" cy="14630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0880" y="2834640"/>
            <a:ext cx="201168" cy="201168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0" y="2377440"/>
            <a:ext cx="146304" cy="14630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0" y="3383280"/>
            <a:ext cx="201168" cy="201168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9" name="Shape 17"/>
          <p:cNvSpPr/>
          <p:nvPr/>
        </p:nvSpPr>
        <p:spPr>
          <a:xfrm>
            <a:off x="6766560" y="3657600"/>
            <a:ext cx="146304" cy="14630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20" name="Text 18"/>
          <p:cNvSpPr/>
          <p:nvPr/>
        </p:nvSpPr>
        <p:spPr>
          <a:xfrm>
            <a:off x="5394960" y="3886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C2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Gli altri ripartono da zero. JARVIS riparte da te.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ECONOMIA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Potente quando serve, economico sempre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Cervello ibrido: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lavora in locale (Ollama) e sale sul cloud (Claude) solo per i compiti difficili.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interprete sceglie il modello giusto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richiesta: niente sprechi.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29718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7C6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~6x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3611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riduzione del costo per interazione (test interno)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54880" y="155448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4754880" y="4343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relativo, misurazioni interne. Non garanzia di risultati.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COME LAVORA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Doppio cervello: locale o connesso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8308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7647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Tutto in locale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31520" y="2267712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offline completa, privata e gratuita: gira sui modelli installati sul tuo PC.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20440" y="178308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0" name="Text 8"/>
          <p:cNvSpPr/>
          <p:nvPr/>
        </p:nvSpPr>
        <p:spPr>
          <a:xfrm>
            <a:off x="3931920" y="17647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Connesso quando serve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520440" y="2267712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 compiti difficili sale sul cloud (Claude): più potenza, on demand.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155448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178308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17647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 tu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309360" y="2267712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switch sceglie la modalità; e se manca la linea, ricade in locale da solo.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977640"/>
            <a:ext cx="73152" cy="566928"/>
          </a:xfrm>
          <a:prstGeom prst="rect">
            <a:avLst/>
          </a:prstGeom>
          <a:solidFill>
            <a:srgbClr val="FFC24B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023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della parte connessa: a carico del cliente,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consumo trasparente. La modalità locale resta gratuita.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LOCAL-FIRST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Privato. Sempre acceso. Anche offline.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2880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105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dati restano tuoi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31520" y="2313432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gira sulla macchina: niente conversazioni o file sui server di altri.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60020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20440" y="182880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0" name="Text 8"/>
          <p:cNvSpPr/>
          <p:nvPr/>
        </p:nvSpPr>
        <p:spPr>
          <a:xfrm>
            <a:off x="3931920" y="18105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Funziona offline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520440" y="2313432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linea passa in locale e continua a lavorare e ricordare.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160020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182880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18105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 h24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309360" y="2313432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 che lavorano in sottofondo e ti chiamano solo quando serve una decisione.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22452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C2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E' il tipo di autonomia che un assistente cloud non puo' offrire — e uno tuo, locale, si'.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C'e' gia' un JARVIS con cui parlare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funzionante.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Scrivania a terminali galleggianti, voce bidirezionale (wake-word + voce neurale), memoria condivisa, e comandi vocali che aprono e pilotano i terminali.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0" y="1554480"/>
            <a:ext cx="4389120" cy="2697480"/>
          </a:xfrm>
          <a:prstGeom prst="roundRect">
            <a:avLst>
              <a:gd name="adj" fmla="val 2712"/>
            </a:avLst>
          </a:prstGeom>
          <a:solidFill>
            <a:srgbClr val="17314A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97680" y="1554480"/>
            <a:ext cx="43891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della scrivania JARVIS 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MERCATO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 chi vuole autonomia, senza smanettare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2560320" cy="1874520"/>
          </a:xfrm>
          <a:prstGeom prst="roundRect">
            <a:avLst>
              <a:gd name="adj" fmla="val 3902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719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Professionisti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31520" y="222199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Consulenti, studi, liberi professionisti: dati sensibili, zero cloud, un collaboratore sempre pronto.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508760"/>
            <a:ext cx="2560320" cy="1874520"/>
          </a:xfrm>
          <a:prstGeom prst="roundRect">
            <a:avLst>
              <a:gd name="adj" fmla="val 3902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20440" y="173736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0" name="Text 8"/>
          <p:cNvSpPr/>
          <p:nvPr/>
        </p:nvSpPr>
        <p:spPr>
          <a:xfrm>
            <a:off x="3931920" y="1719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PMI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520440" y="222199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postazione autonoma che automatizza il lavoro ripetitivo senza canoni che lievitano.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1508760"/>
            <a:ext cx="2560320" cy="1874520"/>
          </a:xfrm>
          <a:prstGeom prst="roundRect">
            <a:avLst>
              <a:gd name="adj" fmla="val 3902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1737360"/>
            <a:ext cx="310896" cy="310896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1719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Esigenti &amp; maker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309360" y="222199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vuole il massimo dell'AI sul proprio hardware, gia' montato e funzionante.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3611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C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PERCHE' ORA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886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 locali maturi su GPU consumer · costi cloud-only insostenibili · domanda crescente di privacy e sovranita' dei dati.   [ inserire TAM/SAM 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Vendi una macchina, non un abbonamento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7C6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PC autonomo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+ JARVIS preinstallato + setup guidato.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possiedi: nessun canone obbligatorio.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Tagli consumer / pro / on-prem.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645920"/>
            <a:ext cx="3977640" cy="2468880"/>
          </a:xfrm>
          <a:prstGeom prst="roundRect">
            <a:avLst>
              <a:gd name="adj" fmla="val 2963"/>
            </a:avLst>
          </a:prstGeom>
          <a:solidFill>
            <a:srgbClr val="17314A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874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Ricavi ricorrenti (opz.)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74920" y="228600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come immagine VM, non solo hardware.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Supporto, aggiornamenti, voci/skill premium.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 consumo trasparente, a carico del cliente.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CONCORRENZA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mondo pronto, non pezzi da montare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560320" cy="2606040"/>
          </a:xfrm>
          <a:prstGeom prst="roundRect">
            <a:avLst>
              <a:gd name="adj" fmla="val 2857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Assistenti cloud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31520" y="21762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Copilot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Potenti, ma cloud-only, a consumo, smemorati e senza mani sul tuo PC.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2560320" cy="2606040"/>
          </a:xfrm>
          <a:prstGeom prst="roundRect">
            <a:avLst>
              <a:gd name="adj" fmla="val 2857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Fai-da-te / framework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20440" y="21762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&amp; co.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20440" y="26060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Impalcature potenti ma da assemblare e mantenere: roba da esperti.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1554480"/>
            <a:ext cx="2560320" cy="2606040"/>
          </a:xfrm>
          <a:prstGeom prst="roundRect">
            <a:avLst>
              <a:gd name="adj" fmla="val 2857"/>
            </a:avLst>
          </a:prstGeom>
          <a:solidFill>
            <a:srgbClr val="17314A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80760" y="1554480"/>
            <a:ext cx="2560320" cy="73152"/>
          </a:xfrm>
          <a:prstGeom prst="rect">
            <a:avLst/>
          </a:prstGeom>
          <a:solidFill>
            <a:srgbClr val="37C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7C6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JARVIS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09360" y="21762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PC autonomo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9360" y="26060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Chiavi in mano, agentico, locale, con memoria. Lo accendi e lavora.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computer autonomo per tutti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20624" cy="42062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47218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Manutenzione ~zero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183794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aggiorna, si verifica e si cura da solo.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420624" cy="42062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34086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Autosostenibile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270662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Lavora in locale: nessun costo ricorrente che pesa.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420624" cy="42062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32095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357530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parli e ti risponde. Niente da imparare.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C6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Oggi un prototipo. Domani l'elettrodomestico intelligente di chiunque.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JARVIS dietro JARVIS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AF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prodotto si costruisce con se stesso: JARVIS aiuta a costruire JARVIS.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Dogfooding radicale = sviluppo lean: un team minimo che produce come uno grande.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0" y="1554480"/>
            <a:ext cx="3200400" cy="2377440"/>
          </a:xfrm>
          <a:prstGeom prst="roundRect">
            <a:avLst>
              <a:gd name="adj" fmla="val 3077"/>
            </a:avLst>
          </a:prstGeom>
          <a:solidFill>
            <a:srgbClr val="17314A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0" y="15544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foto + bio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Fra, founder 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6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RICHIESTA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Pre-seed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023360" cy="2560320"/>
          </a:xfrm>
          <a:prstGeom prst="roundRect">
            <a:avLst>
              <a:gd name="adj" fmla="val 2857"/>
            </a:avLst>
          </a:prstGeom>
          <a:solidFill>
            <a:srgbClr val="13283D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286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7C6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€ importo ]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pre-seed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600200"/>
            <a:ext cx="3977640" cy="2560320"/>
          </a:xfrm>
          <a:prstGeom prst="roundRect">
            <a:avLst>
              <a:gd name="adj" fmla="val 2857"/>
            </a:avLst>
          </a:prstGeom>
          <a:solidFill>
            <a:srgbClr val="17314A"/>
          </a:solidFill>
          <a:ln w="12700">
            <a:solidFill>
              <a:srgbClr val="2440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Uso dei fondi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74920" y="22860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e go-to-market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 lotti hardware / immagine VM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milestone a 12 mesi 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4828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81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280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1097280"/>
            <a:ext cx="822960" cy="-45720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0" y="1097280"/>
            <a:ext cx="1554480" cy="109728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0" y="1097280"/>
            <a:ext cx="640080" cy="137160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914400" cy="54864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0" y="1645920"/>
            <a:ext cx="640080" cy="54864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194560"/>
            <a:ext cx="-914400" cy="274320"/>
          </a:xfrm>
          <a:prstGeom prst="line">
            <a:avLst/>
          </a:prstGeom>
          <a:noFill/>
          <a:ln w="12700">
            <a:solidFill>
              <a:srgbClr val="2440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0" y="1005840"/>
            <a:ext cx="201168" cy="201168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548640"/>
            <a:ext cx="146304" cy="14630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1554480"/>
            <a:ext cx="201168" cy="201168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0" y="1097280"/>
            <a:ext cx="146304" cy="14630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Shape 10"/>
          <p:cNvSpPr/>
          <p:nvPr/>
        </p:nvSpPr>
        <p:spPr>
          <a:xfrm>
            <a:off x="8503920" y="2103120"/>
            <a:ext cx="201168" cy="201168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589520" y="2377440"/>
            <a:ext cx="146304" cy="146304"/>
          </a:xfrm>
          <a:prstGeom prst="ellipse">
            <a:avLst/>
          </a:prstGeom>
          <a:solidFill>
            <a:srgbClr val="37C6F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828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600" kern="0" dirty="0">
                <a:solidFill>
                  <a:srgbClr val="EAF2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A R V I S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566928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7C6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locale. Tuo.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66928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8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nome · email · telefono 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JARVIS — Pitch</dc:title>
  <dc:subject>PptxGenJS Presentation</dc:subject>
  <dc:creator>Fra</dc:creator>
  <cp:lastModifiedBy>Fra</cp:lastModifiedBy>
  <cp:revision>1</cp:revision>
  <dcterms:created xsi:type="dcterms:W3CDTF">2026-06-02T16:05:26Z</dcterms:created>
  <dcterms:modified xsi:type="dcterms:W3CDTF">2026-06-02T16:05:26Z</dcterms:modified>
</cp:coreProperties>
</file>