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Indice costo</c:v>
                </c:pt>
              </c:strCache>
            </c:strRef>
          </c:tx>
          <c:spPr>
            <a:solidFill>
              <a:srgbClr val="6E81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2F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E819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7C6F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Solo cloud</c:v>
                  </c:pt>
                  <c:pt idx="1">
                    <c:v>JARVIS ibrido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AF2F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C2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819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B2B"/>
        </a:solidFill>
        <a:ln>
          <a:noFill/>
        </a:ln>
        <a:effectLst/>
      </c:spPr>
    </c:plotArea>
    <c:plotVisOnly val="1"/>
    <c:dispBlanksAs val="span"/>
  </c:chart>
  <c:spPr>
    <a:solidFill>
      <a:srgbClr val="0B1B2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188720"/>
            <a:ext cx="914400" cy="54864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188720"/>
            <a:ext cx="1737360" cy="9144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731520"/>
            <a:ext cx="914400" cy="54864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731520"/>
            <a:ext cx="-182880" cy="182880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1737360"/>
            <a:ext cx="640080" cy="54864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1280160"/>
            <a:ext cx="-1097280" cy="128016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0" y="1097280"/>
            <a:ext cx="201168" cy="20116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0" y="640080"/>
            <a:ext cx="146304" cy="146304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0" y="1645920"/>
            <a:ext cx="201168" cy="201168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1188720"/>
            <a:ext cx="146304" cy="14630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Shape 10"/>
          <p:cNvSpPr/>
          <p:nvPr/>
        </p:nvSpPr>
        <p:spPr>
          <a:xfrm>
            <a:off x="8321040" y="2194560"/>
            <a:ext cx="201168" cy="201168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0" y="2468880"/>
            <a:ext cx="146304" cy="146304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600" kern="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A R V I S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566928" y="2697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C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tuo assistente AI personale. In locale. Tuo.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Privacy. Dati tuoi. Costi sotto controllo.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riservato</a:t>
            </a:r>
            <a:pPr indent="0" marL="0">
              <a:buNone/>
            </a:pPr>
            <a:r>
              <a:rPr lang="en-US" sz="11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pre-seed   ·   [Mese 2026]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Gli assistenti AI di oggi aggiungono attrito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13283D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420624" cy="420624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Nel cloud, sempre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tuoi dati e il tuo lavoro vivono sui server di qualcun altro.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13283D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828800"/>
            <a:ext cx="420624" cy="420624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2395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Costo a consumo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852928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Piu' li usi, piu' paghi. L'uso intenso fa esplodere la bolletta.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0760" y="160020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13283D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828800"/>
            <a:ext cx="420624" cy="420624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2395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Smemorati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852928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sessione riparte da zero. Non imparano da te, non evolvono.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42245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2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Volevi una soluzione. Ti hanno dato un altro problema da gestire.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81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A R V I 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SOLUZIONE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JARVIS: AI personale, local-first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assistente che vive sulla tua macchina: ricorda tutto, costa poco, e i dati restano tuoi.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13283D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310896" cy="310896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176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 in locale. I tuoi dati non escono dal tuo computer.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196596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13283D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2194560"/>
            <a:ext cx="310896" cy="310896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2176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Costi sotto controllo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520440" y="26974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Lavora in locale, sale sul cloud solo quando serve davvero.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0760" y="196596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13283D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2194560"/>
            <a:ext cx="310896" cy="310896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176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Memoria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09360" y="26974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Cattura, collega e richiama: ti conosce e migliora nel tempo.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81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A R V I 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PERCHE' E' DIVERSO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Studia. Impara. Evolve.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572000" cy="2651760"/>
          </a:xfrm>
          <a:prstGeom prst="roundRect">
            <a:avLst>
              <a:gd name="adj" fmla="val 2759"/>
            </a:avLst>
          </a:prstGeom>
          <a:solidFill>
            <a:srgbClr val="13283D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C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vera memoria.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Cattura ogni scambio significativo e lo collega al resto.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richiama in qualunque sessione e su qualunque terminale.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i fatti e si auto-corregge, ogni notte.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Piu' lo usi, piu' diventa tuo.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377440"/>
            <a:ext cx="822960" cy="-45720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377440"/>
            <a:ext cx="914400" cy="54864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2377440"/>
            <a:ext cx="1737360" cy="9144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377440"/>
            <a:ext cx="1554480" cy="109728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1920240"/>
            <a:ext cx="91440" cy="100584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1920240"/>
            <a:ext cx="731520" cy="155448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2926080"/>
            <a:ext cx="822960" cy="-45720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2926080"/>
            <a:ext cx="-274320" cy="82296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286000"/>
            <a:ext cx="201168" cy="20116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0" y="1828800"/>
            <a:ext cx="146304" cy="146304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0" y="2834640"/>
            <a:ext cx="201168" cy="201168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2377440"/>
            <a:ext cx="146304" cy="14630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9" name="Shape 17"/>
          <p:cNvSpPr/>
          <p:nvPr/>
        </p:nvSpPr>
        <p:spPr>
          <a:xfrm>
            <a:off x="7680960" y="3383280"/>
            <a:ext cx="201168" cy="201168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20" name="Shape 18"/>
          <p:cNvSpPr/>
          <p:nvPr/>
        </p:nvSpPr>
        <p:spPr>
          <a:xfrm>
            <a:off x="6766560" y="3657600"/>
            <a:ext cx="146304" cy="146304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3886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2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Gli altri ripartono da zero. JARVIS riparte da te.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81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A R V I 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ECONOMIA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Potente quando serve, economico sempre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 livelli: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lavoro gira in locale; sale sul cloud solo per i compiti difficili.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dei prompt: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contesto pesante si paga una volta sola.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2971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7C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fino a ~6x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riduzione del costo per interazione (test interno)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754880" y="155448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4343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relativo, misurazioni interne. Non garanzia di risultati.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81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A R V I 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C'e' gia' un JARVIS con cui parlare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funzionante.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a terminali galleggianti, interazione completa, richieste di permesso esplicite e memoria condivisa fra le sessioni.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97680" y="1554480"/>
            <a:ext cx="4389120" cy="2697480"/>
          </a:xfrm>
          <a:prstGeom prst="roundRect">
            <a:avLst>
              <a:gd name="adj" fmla="val 2712"/>
            </a:avLst>
          </a:prstGeom>
          <a:solidFill>
            <a:srgbClr val="17314A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0" y="1554480"/>
            <a:ext cx="4389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della UI di JARVIS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81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A R V I 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MERCATO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chi lavora di testa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3283D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64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C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Professionisti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Consulenti, avvocati, medici: dati sensibili, zero cloud.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5087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3283D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664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C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worker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20440" y="20574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vive di informazioni e ha bisogno di memoria.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5087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3283D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664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C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0574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Automazione e assistenza senza canoni che lievitano.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PERCHE' ORA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6576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modelli locali sono maturi e girano su una GPU consumer.   ·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costi del cloud-only sono insostenibili per l'uso intenso.   ·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domanda di privacy e sovranita' dei dati cresce.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4297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inserire TAM / SAM verificati 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81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A R V I 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possiedi, non lo affitti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13283D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C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Licenza una-tantum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Paghi una volta, e' tuo.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canone che cresce con l'uso.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 in locale: nessun costo server a carico nostro.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977640" cy="2468880"/>
          </a:xfrm>
          <a:prstGeom prst="roundRect">
            <a:avLst>
              <a:gd name="adj" fmla="val 2963"/>
            </a:avLst>
          </a:prstGeom>
          <a:solidFill>
            <a:srgbClr val="17314A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contrasto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22860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Assistenti cloud = abbonamento perpetuo.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Piu' valore estrai, piu' paghi.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tuoi dati come merce di scambio.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297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add-on futuri: versione PMI on-premise, supporto 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81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A R V I 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CONCORRENZA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mondo, non un'impalcatura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13283D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Assistenti cloud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76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Copilot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Potenti, ma cloud-only, a consumo e smemorati.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13283D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agentici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2176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Un'impalcatura che si appoggia all'esterno.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1554480"/>
            <a:ext cx="2560320" cy="2606040"/>
          </a:xfrm>
          <a:prstGeom prst="roundRect">
            <a:avLst>
              <a:gd name="adj" fmla="val 2857"/>
            </a:avLst>
          </a:prstGeom>
          <a:solidFill>
            <a:srgbClr val="17314A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554480"/>
            <a:ext cx="2560320" cy="73152"/>
          </a:xfrm>
          <a:prstGeom prst="rect">
            <a:avLst/>
          </a:prstGeom>
          <a:solidFill>
            <a:srgbClr val="37C6F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C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JARVIS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176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mondo completo, in locale, tuo. Ricorda ed evolve.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81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A R V I 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assistente per tutti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20624" cy="420624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4721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Manutenzione ~zero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8379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gestisce e si aggiorna da solo.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420624" cy="420624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34086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Autosostenibile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706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Lavora in locale: nessun costo ricorrente che pesa.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420624" cy="420624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2095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User-friendly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5753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Completamente interattivo, pensato per chiunque.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C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Oggi un prototipo per pochi. Domani l'assistente di chiunque.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81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A R V I 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JARVIS dietro JARVIS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prodotto si costruisce con se stesso: JARVIS aiuta a costruire JARVIS.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Dogfooding radicale = sviluppo lean e iper-efficiente: un team minimo che produce come uno grande.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155448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17314A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0" y="15544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foto + bio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Fra, founder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81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A R V I 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RICHIESTA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Pre-seed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13283D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286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7C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€ importo ]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pre-seed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600200"/>
            <a:ext cx="3977640" cy="2560320"/>
          </a:xfrm>
          <a:prstGeom prst="roundRect">
            <a:avLst>
              <a:gd name="adj" fmla="val 2857"/>
            </a:avLst>
          </a:prstGeom>
          <a:solidFill>
            <a:srgbClr val="17314A"/>
          </a:solidFill>
          <a:ln w="12700">
            <a:solidFill>
              <a:srgbClr val="2440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Uso dei fondi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4920" y="22860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 go-to-market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altri capitoli di spesa ]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milestone a 12 mesi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81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A R V I 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1097280"/>
            <a:ext cx="914400" cy="54864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1097280"/>
            <a:ext cx="1554480" cy="109728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640080"/>
            <a:ext cx="-182880" cy="182880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645920"/>
            <a:ext cx="822960" cy="-45720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1645920"/>
            <a:ext cx="640080" cy="54864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1188720"/>
            <a:ext cx="-182880" cy="100584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1188720"/>
            <a:ext cx="-1097280" cy="1280160"/>
          </a:xfrm>
          <a:prstGeom prst="line">
            <a:avLst/>
          </a:prstGeom>
          <a:noFill/>
          <a:ln w="12700">
            <a:solidFill>
              <a:srgbClr val="2440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1005840"/>
            <a:ext cx="201168" cy="20116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0" y="548640"/>
            <a:ext cx="146304" cy="146304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11" name="Shape 9"/>
          <p:cNvSpPr/>
          <p:nvPr/>
        </p:nvSpPr>
        <p:spPr>
          <a:xfrm>
            <a:off x="7863840" y="1554480"/>
            <a:ext cx="201168" cy="201168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1097280"/>
            <a:ext cx="146304" cy="14630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2103120"/>
            <a:ext cx="201168" cy="201168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2377440"/>
            <a:ext cx="146304" cy="146304"/>
          </a:xfrm>
          <a:prstGeom prst="ellipse">
            <a:avLst/>
          </a:prstGeom>
          <a:solidFill>
            <a:srgbClr val="37C6F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600" kern="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A R V I S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566928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C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locale. Tuo.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6928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nome · email · telefono 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JARVIS — Pitch</dc:title>
  <dc:subject>PptxGenJS Presentation</dc:subject>
  <dc:creator>Fra</dc:creator>
  <cp:lastModifiedBy>Fra</cp:lastModifiedBy>
  <cp:revision>1</cp:revision>
  <dcterms:created xsi:type="dcterms:W3CDTF">2026-06-01T23:41:55Z</dcterms:created>
  <dcterms:modified xsi:type="dcterms:W3CDTF">2026-06-01T23:41:55Z</dcterms:modified>
</cp:coreProperties>
</file>